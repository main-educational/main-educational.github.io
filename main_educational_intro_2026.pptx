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3"/>
    <p:sldId id="262" r:id="rId12"/>
    <p:sldId id="263" r:id="rId11"/>
    <p:sldId id="264" r:id="rId26"/>
    <p:sldId id="265" r:id="rId27"/>
  </p:sldIdLst>
  <p:sldSz cy="5143500" cx="9144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 SemiBold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8.xml"/><Relationship Id="rId12" Type="http://schemas.openxmlformats.org/officeDocument/2006/relationships/slide" Target="slides/slide7.xml"/><Relationship Id="rId13" Type="http://schemas.openxmlformats.org/officeDocument/2006/relationships/slide" Target="slides/slide6.xml"/><Relationship Id="rId14" Type="http://schemas.openxmlformats.org/officeDocument/2006/relationships/font" Target="fonts/UrbanistMedium-regular.fntdata"/><Relationship Id="rId15" Type="http://schemas.openxmlformats.org/officeDocument/2006/relationships/font" Target="fonts/UrbanistMedium-bold.fntdata"/><Relationship Id="rId16" Type="http://schemas.openxmlformats.org/officeDocument/2006/relationships/font" Target="fonts/UrbanistMedium-italic.fntdata"/><Relationship Id="rId17" Type="http://schemas.openxmlformats.org/officeDocument/2006/relationships/font" Target="fonts/UrbanistMedium-boldItalic.fntdata"/><Relationship Id="rId18" Type="http://schemas.openxmlformats.org/officeDocument/2006/relationships/font" Target="fonts/UrbanistSemiBold-regular.fntdata"/><Relationship Id="rId19" Type="http://schemas.openxmlformats.org/officeDocument/2006/relationships/font" Target="fonts/UrbanistSemiBold-bold.fntdata"/><Relationship Id="rId20" Type="http://schemas.openxmlformats.org/officeDocument/2006/relationships/font" Target="fonts/UrbanistSemiBold-italic.fntdata"/><Relationship Id="rId21" Type="http://schemas.openxmlformats.org/officeDocument/2006/relationships/font" Target="fonts/UrbanistSemiBold-boldItalic.fntdata"/><Relationship Id="rId22" Type="http://schemas.openxmlformats.org/officeDocument/2006/relationships/font" Target="fonts/Urbanist-regular.fntdata"/><Relationship Id="rId23" Type="http://schemas.openxmlformats.org/officeDocument/2006/relationships/font" Target="fonts/Urbanist-bold.fntdata"/><Relationship Id="rId24" Type="http://schemas.openxmlformats.org/officeDocument/2006/relationships/font" Target="fonts/Urbanist-italic.fntdata"/><Relationship Id="rId25" Type="http://schemas.openxmlformats.org/officeDocument/2006/relationships/font" Target="fonts/Urbanist-boldItalic.fntdata"/><Relationship Id="rId26" Type="http://schemas.openxmlformats.org/officeDocument/2006/relationships/slide" Target="slides/slide9.xml"/><Relationship Id="rId2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62478f157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62478f157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62478f157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a62478f157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62478f157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62478f157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a62478f157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a62478f157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a62478f157_0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a62478f157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26.png"/><Relationship Id="rId7" Type="http://schemas.openxmlformats.org/officeDocument/2006/relationships/image" Target="../media/image5.png"/><Relationship Id="rId8" Type="http://schemas.openxmlformats.org/officeDocument/2006/relationships/image" Target="../media/image16.png"/><Relationship Id="rId9" Type="http://schemas.openxmlformats.org/officeDocument/2006/relationships/image" Target="../media/image22.png"/><Relationship Id="rId10" Type="http://schemas.openxmlformats.org/officeDocument/2006/relationships/image" Target="../media/image12.png"/><Relationship Id="rId11" Type="http://schemas.openxmlformats.org/officeDocument/2006/relationships/image" Target="../media/image25.png"/><Relationship Id="rId12" Type="http://schemas.openxmlformats.org/officeDocument/2006/relationships/image" Target="../media/image4.png"/><Relationship Id="rId13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main-educational.github.io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4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4.jpg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1.jpg"/><Relationship Id="rId3" Type="http://schemas.openxmlformats.org/officeDocument/2006/relationships/image" Target="../media/image2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Picture 436" descr="main_educational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264" y="331470"/>
            <a:ext cx="6903471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2"/>
          <p:cNvSpPr txBox="1"/>
          <p:nvPr/>
        </p:nvSpPr>
        <p:spPr>
          <a:xfrm>
            <a:off x="345950" y="228600"/>
            <a:ext cx="44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Sponsors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43" name="Google Shape;4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15550"/>
            <a:ext cx="9144001" cy="13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 txBox="1"/>
          <p:nvPr/>
        </p:nvSpPr>
        <p:spPr>
          <a:xfrm>
            <a:off x="345950" y="228600"/>
            <a:ext cx="44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Organizers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49" name="Google Shape;4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240" y="1691640"/>
            <a:ext cx="1188720" cy="118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1840" y="1691640"/>
            <a:ext cx="1188720" cy="118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640" y="1691640"/>
            <a:ext cx="1188720" cy="118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3440" y="1691640"/>
            <a:ext cx="1188720" cy="118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35040" y="1691640"/>
            <a:ext cx="1188720" cy="118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06640" y="16916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TextBox 462"/>
          <p:cNvSpPr txBox="1"/>
          <p:nvPr/>
        </p:nvSpPr>
        <p:spPr>
          <a:xfrm>
            <a:off x="457200" y="295351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Urbanist"/>
              </a:rPr>
              <a:t>Centre UNIQUE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1828800" y="295351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Urbanist"/>
              </a:rPr>
              <a:t>Shahab Bakhtiari</a:t>
            </a:r>
          </a:p>
          <a:p>
            <a:pPr algn="ctr"/>
            <a:r>
              <a:rPr sz="1100" b="0">
                <a:solidFill>
                  <a:srgbClr val="B8B8B8"/>
                </a:solidFill>
                <a:latin typeface="Urbanist"/>
              </a:rPr>
              <a:t>Program committee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3200400" y="295351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Urbanist"/>
              </a:rPr>
              <a:t>Lune Bellec</a:t>
            </a:r>
          </a:p>
          <a:p>
            <a:pPr algn="ctr"/>
            <a:r>
              <a:rPr sz="1100" b="0">
                <a:solidFill>
                  <a:srgbClr val="B8B8B8"/>
                </a:solidFill>
                <a:latin typeface="Urbanist"/>
              </a:rPr>
              <a:t>Executive committee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4572000" y="295351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Urbanist"/>
              </a:rPr>
              <a:t>Karim Jerbi</a:t>
            </a:r>
          </a:p>
          <a:p>
            <a:pPr algn="ctr"/>
            <a:r>
              <a:rPr sz="1100" b="0">
                <a:solidFill>
                  <a:srgbClr val="B8B8B8"/>
                </a:solidFill>
                <a:latin typeface="Urbanist"/>
              </a:rPr>
              <a:t>Executive committee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5943600" y="295351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Urbanist"/>
              </a:rPr>
              <a:t>Pouya Bashivan</a:t>
            </a:r>
          </a:p>
          <a:p>
            <a:pPr algn="ctr"/>
            <a:r>
              <a:rPr sz="1100" b="0">
                <a:solidFill>
                  <a:srgbClr val="B8B8B8"/>
                </a:solidFill>
                <a:latin typeface="Urbanist"/>
              </a:rPr>
              <a:t>Program committee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315200" y="2953512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Urbanist"/>
              </a:rPr>
              <a:t>Audrey Durand</a:t>
            </a:r>
          </a:p>
          <a:p>
            <a:pPr algn="ctr"/>
            <a:r>
              <a:rPr sz="1100" b="0">
                <a:solidFill>
                  <a:srgbClr val="B8B8B8"/>
                </a:solidFill>
                <a:latin typeface="Urbanist"/>
              </a:rPr>
              <a:t>Program committee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4"/>
          <p:cNvSpPr txBox="1"/>
          <p:nvPr/>
        </p:nvSpPr>
        <p:spPr>
          <a:xfrm>
            <a:off x="545875" y="182880"/>
            <a:ext cx="8323805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Wifi Network: 		CRIUGM-Invite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Password:  		none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Room:  			Amphithéâtre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		« Le Groupe Maurice »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/>
            </a:r>
            <a:r>
              <a:rPr lang="en" sz="1100">
                <a:solidFill>
                  <a:schemeClr val="dk1"/>
                </a:solidFill>
              </a:rPr>
              <a:t/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6" name="Google Shape;476;p44"/>
          <p:cNvSpPr txBox="1"/>
          <p:nvPr/>
        </p:nvSpPr>
        <p:spPr>
          <a:xfrm>
            <a:off x="613700" y="3048850"/>
            <a:ext cx="6697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Program and links to 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tutorial</a:t>
            </a: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rgbClr val="38761D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https://main-educational.github.io</a:t>
            </a:r>
            <a:endParaRPr sz="3000">
              <a:solidFill>
                <a:srgbClr val="38761D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7" name="TextBox 476"/>
          <p:cNvSpPr txBox="1"/>
          <p:nvPr/>
        </p:nvSpPr>
        <p:spPr>
          <a:xfrm>
            <a:off x="613700" y="4343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Urbanist"/>
              </a:rPr>
              <a:t>Next: </a:t>
            </a:r>
            <a:r>
              <a:rPr sz="1600" b="0">
                <a:solidFill>
                  <a:srgbClr val="FFFFFF"/>
                </a:solidFill>
                <a:latin typeface="Urbanist"/>
              </a:rPr>
              <a:t>MAIN 2026 conference, October 29th-30th, HEC Montréal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5"/>
          <p:cNvSpPr txBox="1"/>
          <p:nvPr/>
        </p:nvSpPr>
        <p:spPr>
          <a:xfrm>
            <a:off x="345950" y="228600"/>
            <a:ext cx="44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Sessions</a:t>
            </a:r>
            <a:endParaRPr sz="3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2" name="TextBox 481"/>
          <p:cNvSpPr txBox="1"/>
          <p:nvPr/>
        </p:nvSpPr>
        <p:spPr>
          <a:xfrm>
            <a:off x="365760" y="1097280"/>
            <a:ext cx="4983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Urbanist"/>
              </a:rPr>
              <a:t>Monday Oct. 26th: </a:t>
            </a:r>
            <a:r>
              <a:rPr sz="1400" b="0">
                <a:solidFill>
                  <a:srgbClr val="FFFFFF"/>
                </a:solidFill>
                <a:latin typeface="Urbanist"/>
              </a:rPr>
              <a:t>reasoning about the world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5349240" y="10972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Urbanist"/>
              </a:rPr>
              <a:t>Tuesday Oct. 27th: </a:t>
            </a:r>
            <a:r>
              <a:rPr sz="1400" b="0">
                <a:solidFill>
                  <a:srgbClr val="FFFFFF"/>
                </a:solidFill>
                <a:latin typeface="Urbanist"/>
              </a:rPr>
              <a:t>benchmarking</a:t>
            </a:r>
          </a:p>
        </p:txBody>
      </p:sp>
      <p:pic>
        <p:nvPicPr>
          <p:cNvPr id="484" name="Picture 483" descr="icon_wor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645920"/>
            <a:ext cx="1325880" cy="1325880"/>
          </a:xfrm>
          <a:prstGeom prst="rect">
            <a:avLst/>
          </a:prstGeom>
        </p:spPr>
      </p:pic>
      <p:sp>
        <p:nvSpPr>
          <p:cNvPr id="485" name="TextBox 484"/>
          <p:cNvSpPr txBox="1"/>
          <p:nvPr/>
        </p:nvSpPr>
        <p:spPr>
          <a:xfrm>
            <a:off x="548640" y="3063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Urbanist"/>
              </a:rPr>
              <a:t>World models and embodied agents</a:t>
            </a:r>
          </a:p>
        </p:txBody>
      </p:sp>
      <p:pic>
        <p:nvPicPr>
          <p:cNvPr id="486" name="Picture 485" descr="icon_vis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560" y="1645920"/>
            <a:ext cx="1325880" cy="1325880"/>
          </a:xfrm>
          <a:prstGeom prst="rect">
            <a:avLst/>
          </a:prstGeom>
        </p:spPr>
      </p:pic>
      <p:sp>
        <p:nvSpPr>
          <p:cNvPr id="487" name="TextBox 486"/>
          <p:cNvSpPr txBox="1"/>
          <p:nvPr/>
        </p:nvSpPr>
        <p:spPr>
          <a:xfrm>
            <a:off x="2103120" y="3063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Urbanist"/>
              </a:rPr>
              <a:t>Active vision with deep neural networks</a:t>
            </a:r>
          </a:p>
        </p:txBody>
      </p:sp>
      <p:pic>
        <p:nvPicPr>
          <p:cNvPr id="488" name="Picture 487" descr="logo_videogame_ai.png"/>
          <p:cNvPicPr>
            <a:picLocks noChangeAspect="1"/>
          </p:cNvPicPr>
          <p:nvPr/>
        </p:nvPicPr>
        <p:blipFill>
          <a:blip r:embed="rId8"/>
          <a:srcRect t="2500" b="2500"/>
          <a:stretch>
            <a:fillRect/>
          </a:stretch>
        </p:blipFill>
        <p:spPr>
          <a:xfrm>
            <a:off x="3749040" y="1645920"/>
            <a:ext cx="1325880" cy="1325880"/>
          </a:xfrm>
          <a:prstGeom prst="rect">
            <a:avLst/>
          </a:prstGeom>
        </p:spPr>
      </p:pic>
      <p:sp>
        <p:nvSpPr>
          <p:cNvPr id="489" name="TextBox 488"/>
          <p:cNvSpPr txBox="1"/>
          <p:nvPr/>
        </p:nvSpPr>
        <p:spPr>
          <a:xfrm>
            <a:off x="3657600" y="3063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Urbanist"/>
              </a:rPr>
              <a:t>Reason to play</a:t>
            </a:r>
          </a:p>
        </p:txBody>
      </p:sp>
      <p:pic>
        <p:nvPicPr>
          <p:cNvPr id="490" name="Picture 489" descr="logo_cognitive_benchmarks.png"/>
          <p:cNvPicPr>
            <a:picLocks noChangeAspect="1"/>
          </p:cNvPicPr>
          <p:nvPr/>
        </p:nvPicPr>
        <p:blipFill>
          <a:blip r:embed="rId9"/>
          <a:srcRect t="3500" b="3500"/>
          <a:stretch>
            <a:fillRect/>
          </a:stretch>
        </p:blipFill>
        <p:spPr>
          <a:xfrm>
            <a:off x="5623560" y="1645920"/>
            <a:ext cx="1325880" cy="1325880"/>
          </a:xfrm>
          <a:prstGeom prst="rect">
            <a:avLst/>
          </a:prstGeom>
        </p:spPr>
      </p:pic>
      <p:sp>
        <p:nvSpPr>
          <p:cNvPr id="491" name="TextBox 490"/>
          <p:cNvSpPr txBox="1"/>
          <p:nvPr/>
        </p:nvSpPr>
        <p:spPr>
          <a:xfrm>
            <a:off x="5532120" y="3063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Urbanist"/>
              </a:rPr>
              <a:t>Cognitive benchmarking in large models</a:t>
            </a:r>
          </a:p>
        </p:txBody>
      </p:sp>
      <p:pic>
        <p:nvPicPr>
          <p:cNvPr id="492" name="Picture 491" descr="icon_alig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8040" y="1645920"/>
            <a:ext cx="1325880" cy="1325880"/>
          </a:xfrm>
          <a:prstGeom prst="rect">
            <a:avLst/>
          </a:prstGeom>
        </p:spPr>
      </p:pic>
      <p:sp>
        <p:nvSpPr>
          <p:cNvPr id="493" name="TextBox 492"/>
          <p:cNvSpPr txBox="1"/>
          <p:nvPr/>
        </p:nvSpPr>
        <p:spPr>
          <a:xfrm>
            <a:off x="7086600" y="3063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Urbanist"/>
              </a:rPr>
              <a:t>Alignment across modalities and brains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5950" y="228600"/>
            <a:ext cx="8600000" cy="6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Urbanist"/>
              </a:rPr>
              <a:t>Session 1: World models and embodied agents</a:t>
            </a:r>
          </a:p>
        </p:txBody>
      </p:sp>
      <p:pic>
        <p:nvPicPr>
          <p:cNvPr id="3" name="Picture 2" descr="profile_sonia_jose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173736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Sonia Joseph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McGill University and Mila</a:t>
            </a:r>
          </a:p>
        </p:txBody>
      </p:sp>
      <p:pic>
        <p:nvPicPr>
          <p:cNvPr id="5" name="Picture 4" descr="profile_glen_berseth.png"/>
          <p:cNvPicPr>
            <a:picLocks noChangeAspect="1"/>
          </p:cNvPicPr>
          <p:nvPr/>
        </p:nvPicPr>
        <p:blipFill>
          <a:blip r:embed="rId3"/>
          <a:srcRect l="50" r="50"/>
          <a:stretch>
            <a:fillRect/>
          </a:stretch>
        </p:blipFill>
        <p:spPr>
          <a:xfrm>
            <a:off x="2423160" y="137160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172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Glen Berseth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Université de Montréal and Mila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2588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Urbanist"/>
              </a:rPr>
              <a:t>Monday October 26th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09:05-09:50  </a:t>
            </a:r>
            <a:r>
              <a:rPr sz="1400" b="0">
                <a:solidFill>
                  <a:srgbClr val="FFFFFF"/>
                </a:solidFill>
                <a:latin typeface="Urbanist"/>
              </a:rPr>
              <a:t>Lecture by Sonia Joseph, followed by questions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09:50-10:05  </a:t>
            </a:r>
            <a:r>
              <a:rPr sz="1400" b="0">
                <a:solidFill>
                  <a:srgbClr val="FFFFFF"/>
                </a:solidFill>
                <a:latin typeface="Urbanist"/>
              </a:rPr>
              <a:t>Break with coffee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10:05-12:05  </a:t>
            </a:r>
            <a:r>
              <a:rPr sz="1400" b="0">
                <a:solidFill>
                  <a:srgbClr val="FFFFFF"/>
                </a:solidFill>
                <a:latin typeface="Urbanist"/>
              </a:rPr>
              <a:t>Hands-on tutorial with Glen Berseth: Building World Models from the Ground Up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12:05-13:00  </a:t>
            </a:r>
            <a:r>
              <a:rPr sz="1400" b="0">
                <a:solidFill>
                  <a:srgbClr val="FFFFFF"/>
                </a:solidFill>
                <a:latin typeface="Urbanist"/>
              </a:rPr>
              <a:t>Lunch provided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5950" y="228600"/>
            <a:ext cx="8600000" cy="6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Urbanist"/>
              </a:rPr>
              <a:t>Session 2: Active vision with deep neural networks</a:t>
            </a:r>
          </a:p>
        </p:txBody>
      </p:sp>
      <p:pic>
        <p:nvPicPr>
          <p:cNvPr id="3" name="Picture 2" descr="profile_motahareh_pourrahim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173736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Motahareh Pourrahimi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Mila and McGill University</a:t>
            </a:r>
          </a:p>
        </p:txBody>
      </p:sp>
      <p:pic>
        <p:nvPicPr>
          <p:cNvPr id="5" name="Picture 4" descr="profile_hafez_ghaem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37160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172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Hafez Ghaemi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Mila and Université de Montréal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2588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Urbanist"/>
              </a:rPr>
              <a:t>Monday October 26th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13:00-14:45  </a:t>
            </a:r>
            <a:r>
              <a:rPr sz="1400" b="0">
                <a:solidFill>
                  <a:srgbClr val="FFFFFF"/>
                </a:solidFill>
                <a:latin typeface="Urbanist"/>
              </a:rPr>
              <a:t>Active vision with deep neural networks: from JEPA to seqJEPA and learned fixation policies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14:45-15:05  </a:t>
            </a:r>
            <a:r>
              <a:rPr sz="1400" b="0">
                <a:solidFill>
                  <a:srgbClr val="FFFFFF"/>
                </a:solidFill>
                <a:latin typeface="Urbanist"/>
              </a:rPr>
              <a:t>Break with coffee and snack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5950" y="228600"/>
            <a:ext cx="8600000" cy="6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Urbanist"/>
              </a:rPr>
              <a:t>Session 3: Reason to play</a:t>
            </a:r>
          </a:p>
        </p:txBody>
      </p:sp>
      <p:pic>
        <p:nvPicPr>
          <p:cNvPr id="3" name="Picture 2" descr="profile_yann_har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173736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Yann Harel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Boston College (in person)</a:t>
            </a:r>
          </a:p>
        </p:txBody>
      </p:sp>
      <p:pic>
        <p:nvPicPr>
          <p:cNvPr id="5" name="Picture 4" descr="profile_csaba_bot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37160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172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Csaba Botos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Google DeepMind (online)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2588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Urbanist"/>
              </a:rPr>
              <a:t>Monday October 26th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15:05-16:50  </a:t>
            </a:r>
            <a:r>
              <a:rPr sz="1400" b="0">
                <a:solidFill>
                  <a:srgbClr val="FFFFFF"/>
                </a:solidFill>
                <a:latin typeface="Urbanist"/>
              </a:rPr>
              <a:t>Hands-on tutorial: human-AI alignment in learning to play new games, comparing large reasoning models with human players and their brain activity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5950" y="228600"/>
            <a:ext cx="8600000" cy="6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Urbanist"/>
              </a:rPr>
              <a:t>Session 4: Cognitive benchmarking in large models</a:t>
            </a:r>
          </a:p>
        </p:txBody>
      </p:sp>
      <p:pic>
        <p:nvPicPr>
          <p:cNvPr id="3" name="Picture 2" descr="profile_lucas_gome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173736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Lucas Gomez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McGill University</a:t>
            </a:r>
          </a:p>
        </p:txBody>
      </p:sp>
      <p:pic>
        <p:nvPicPr>
          <p:cNvPr id="5" name="Picture 4" descr="profile_zihan_we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37160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172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Zihan Weng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McGill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2588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Urbanist"/>
              </a:rPr>
              <a:t>Tuesday October 27th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08:30-09:00  </a:t>
            </a:r>
            <a:r>
              <a:rPr sz="1400" b="0">
                <a:solidFill>
                  <a:srgbClr val="FFFFFF"/>
                </a:solidFill>
                <a:latin typeface="Urbanist"/>
              </a:rPr>
              <a:t>Registration with coffee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09:00-12:00  </a:t>
            </a:r>
            <a:r>
              <a:rPr sz="1400" b="0">
                <a:solidFill>
                  <a:srgbClr val="FFFFFF"/>
                </a:solidFill>
                <a:latin typeface="Urbanist"/>
              </a:rPr>
              <a:t>Tutorial on LLMs, vision-language models and reasoning models (with a break)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12:00-13:00  </a:t>
            </a:r>
            <a:r>
              <a:rPr sz="1400" b="0">
                <a:solidFill>
                  <a:srgbClr val="FFFFFF"/>
                </a:solidFill>
                <a:latin typeface="Urbanist"/>
              </a:rPr>
              <a:t>Lunch provided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5950" y="228600"/>
            <a:ext cx="8600000" cy="646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Urbanist"/>
              </a:rPr>
              <a:t>Session 5: Alignment across modalities and brains</a:t>
            </a:r>
          </a:p>
        </p:txBody>
      </p:sp>
      <p:pic>
        <p:nvPicPr>
          <p:cNvPr id="3" name="Picture 2" descr="profile_aishwarya_agraw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173736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Aishwarya Agrawal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Université de Montréal and Mila</a:t>
            </a:r>
          </a:p>
        </p:txBody>
      </p:sp>
      <p:pic>
        <p:nvPicPr>
          <p:cNvPr id="5" name="Picture 4" descr="profile_elizabeth_dupre.jpg"/>
          <p:cNvPicPr>
            <a:picLocks noChangeAspect="1"/>
          </p:cNvPicPr>
          <p:nvPr/>
        </p:nvPicPr>
        <p:blipFill>
          <a:blip r:embed="rId3"/>
          <a:srcRect l="1183" r="1183"/>
          <a:stretch>
            <a:fillRect/>
          </a:stretch>
        </p:blipFill>
        <p:spPr>
          <a:xfrm>
            <a:off x="2423160" y="1371600"/>
            <a:ext cx="1737360" cy="1737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1720" y="3182112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Urbanist"/>
              </a:rPr>
              <a:t>Elizabeth DuPre</a:t>
            </a:r>
          </a:p>
          <a:p>
            <a:pPr algn="ctr"/>
            <a:r>
              <a:rPr sz="1300" b="0">
                <a:solidFill>
                  <a:srgbClr val="B8B8B8"/>
                </a:solidFill>
                <a:latin typeface="Urbanist"/>
              </a:rPr>
              <a:t>Université de Montréal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32588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Urbanist"/>
              </a:rPr>
              <a:t>Tuesday October 27th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13:00-13:50  </a:t>
            </a:r>
            <a:r>
              <a:rPr sz="1400" b="0">
                <a:solidFill>
                  <a:srgbClr val="FFFFFF"/>
                </a:solidFill>
                <a:latin typeface="Urbanist"/>
              </a:rPr>
              <a:t>Talk on vision-language alignment by Aishwarya Agrawal, followed by questions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13:50-14:00  </a:t>
            </a:r>
            <a:r>
              <a:rPr sz="1400" b="0">
                <a:solidFill>
                  <a:srgbClr val="FFFFFF"/>
                </a:solidFill>
                <a:latin typeface="Urbanist"/>
              </a:rPr>
              <a:t>Break with coffee</a:t>
            </a:r>
          </a:p>
          <a:p>
            <a:pPr algn="l">
              <a:spcBef>
                <a:spcPts val="900"/>
              </a:spcBef>
            </a:pPr>
            <a:r>
              <a:rPr sz="1400" b="1">
                <a:solidFill>
                  <a:srgbClr val="FFFFFF"/>
                </a:solidFill>
                <a:latin typeface="Urbanist"/>
              </a:rPr>
              <a:t>14:00-16:00  </a:t>
            </a:r>
            <a:r>
              <a:rPr sz="1400" b="0">
                <a:solidFill>
                  <a:srgbClr val="FFFFFF"/>
                </a:solidFill>
                <a:latin typeface="Urbanist"/>
              </a:rPr>
              <a:t>Hands-on tutorial with Elizabeth DuPre: functional alignment across participants with fmralign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